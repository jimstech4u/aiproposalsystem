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/>
              <a:t>Introduce the project title, case study organization, your name, department, and the purpose of the defense.</a:t>
            </a: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/>
              <a:t>Summarize the entire research in one minute: the problem, the solution, the AI approach, and the expected impact.</a:t>
            </a:r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/>
              <a:t>Explain why proposal preparation and estimation matter before a project starts.</a:t>
            </a:r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/>
              <a:t>Connect the study to the real operational environment of Jimstech Innovations Nigeria Limited.</a:t>
            </a:r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/>
              <a:t>Present the core gap: the organization needs a repeatable and data-backed proposal and estimation workflow.</a:t>
            </a:r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/>
              <a:t>Explain the academic, company, operational, and personal reasons for selecting this project.</a:t>
            </a:r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/>
              <a:t>State the general objective first, then the specific objectives as measurable deliverables.</a:t>
            </a:r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/>
              <a:t>Clarify what the system covers and keep the scope tied to implemented modules.</a:t>
            </a:r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/>
              <a:t>Explain how data was collected and how the system was developed incrementally.</a:t>
            </a:r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/>
              <a:t>Use this slide to describe how the current manual process works and why it creates delays.</a:t>
            </a:r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/>
              <a:t>Present the proposed system as an integrated workflow, not just separate pages.</a:t>
            </a:r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/>
              <a:t>Explain the main actors and what each role can do in the system.</a:t>
            </a:r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/>
              <a:t>Briefly describe the layers of the system and the technologies used.</a:t>
            </a:r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/>
              <a:t>Highlight the actual implemented features that are most important for demonstration.</a:t>
            </a:r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/>
              <a:t>State the expected benefits in business and technical terms.</a:t>
            </a:r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/>
              <a:t>Close by emphasizing practical value, adoption steps, future improvement, and final contribution.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63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4000" cy="6858000"/>
          </a:xfrm>
          <a:prstGeom prst="rect">
            <a:avLst/>
          </a:prstGeom>
          <a:solidFill>
            <a:srgbClr val="0F9A8F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812800" y="1143000"/>
            <a:ext cx="10414000" cy="1080770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r>
              <a:rPr lang="en-US" sz="3100" b="1">
                <a:solidFill>
                  <a:srgbClr val="FFFFFF"/>
                </a:solidFill>
                <a:latin typeface="Aptos" charset="0"/>
                <a:cs typeface="Aptos" charset="0"/>
              </a:rPr>
              <a:t>AI-Powered Technical Proposal and Cost Estimation System</a:t>
            </a:r>
            <a:endParaRPr lang="en-US" sz="3100" b="1">
              <a:solidFill>
                <a:srgbClr val="FFFFFF"/>
              </a:solidFill>
              <a:latin typeface="Aptos" charset="0"/>
              <a:cs typeface="Aptos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812800" y="2603500"/>
            <a:ext cx="9652000" cy="619125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r>
              <a:rPr lang="en-US" sz="1600">
                <a:solidFill>
                  <a:srgbClr val="DBEAFE"/>
                </a:solidFill>
                <a:latin typeface="Aptos" charset="0"/>
                <a:cs typeface="Aptos" charset="0"/>
              </a:rPr>
              <a:t>Case Study: Jimstech Innovations Nigeria Limited
AJIBEWA Johnson Irekanmi | Student ID: 25626 | June 2026</a:t>
            </a:r>
            <a:endParaRPr lang="en-US" sz="1600">
              <a:solidFill>
                <a:srgbClr val="DBEAFE"/>
              </a:solidFill>
              <a:latin typeface="Aptos" charset="0"/>
              <a:cs typeface="Aptos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812800" y="4000500"/>
            <a:ext cx="9398000" cy="911225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pPr>
              <a:spcAft>
                <a:spcPts val="700"/>
              </a:spcAft>
            </a:pPr>
            <a:r>
              <a:rPr lang="en-US" sz="1700">
                <a:solidFill>
                  <a:srgbClr val="FFFFFF"/>
                </a:solidFill>
                <a:latin typeface="Aptos" charset="0"/>
                <a:cs typeface="Aptos" charset="0"/>
              </a:rPr>
              <a:t>- Final Year Project Defense
- B.Sc. Information Technology - Software Engineering
- Adventist University of Central Africa</a:t>
            </a:r>
            <a:endParaRPr lang="en-US" sz="1700">
              <a:solidFill>
                <a:srgbClr val="FFFFFF"/>
              </a:solidFill>
              <a:latin typeface="Aptos" charset="0"/>
              <a:cs typeface="Aptos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812800" y="5778500"/>
            <a:ext cx="3810000" cy="327025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r>
              <a:rPr lang="en-US" sz="1300" b="1">
                <a:solidFill>
                  <a:srgbClr val="93C5FD"/>
                </a:solidFill>
                <a:latin typeface="Aptos" charset="0"/>
                <a:cs typeface="Aptos" charset="0"/>
              </a:rPr>
              <a:t>Defense Presentation</a:t>
            </a:r>
            <a:endParaRPr lang="en-US" sz="1300" b="1">
              <a:solidFill>
                <a:srgbClr val="93C5FD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0A263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406400" y="127000"/>
            <a:ext cx="10033000" cy="480695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r>
              <a:rPr lang="en-US" sz="2300" b="1">
                <a:solidFill>
                  <a:srgbClr val="FFFFFF"/>
                </a:solidFill>
                <a:latin typeface="Aptos" charset="0"/>
                <a:cs typeface="Aptos" charset="0"/>
              </a:rPr>
              <a:t>Abstract</a:t>
            </a:r>
            <a:endParaRPr lang="en-US" sz="2300" b="1">
              <a:solidFill>
                <a:srgbClr val="FFFFFF"/>
              </a:solidFill>
              <a:latin typeface="Aptos" charset="0"/>
              <a:cs typeface="Aptos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041400" y="1333500"/>
            <a:ext cx="10160000" cy="2465705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pPr>
              <a:spcAft>
                <a:spcPts val="700"/>
              </a:spcAft>
            </a:pPr>
            <a:r>
              <a:rPr lang="en-US" sz="1900">
                <a:solidFill>
                  <a:srgbClr val="1F2937"/>
                </a:solidFill>
                <a:latin typeface="Aptos" charset="0"/>
                <a:cs typeface="Aptos" charset="0"/>
              </a:rPr>
              <a:t>- Software firms struggle with slow proposal writing, inconsistent estimates, and weak timeline prediction.
- This project automates requirement analysis, proposal generation, cost estimation, timeline prediction, and technology recommendation.
- The system uses LLM-assisted intelligence through NVIDIA NIM with local fallbacks and stores project records in Supabase.
- Result: faster, more structured, and more defensible pre-project planning for software development firms.</a:t>
            </a:r>
            <a:endParaRPr lang="en-US" sz="1900">
              <a:solidFill>
                <a:srgbClr val="1F2937"/>
              </a:solidFill>
              <a:latin typeface="Aptos" charset="0"/>
              <a:cs typeface="Aptos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06400" y="6413500"/>
            <a:ext cx="11379200" cy="1905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406400" y="6477000"/>
            <a:ext cx="7874000" cy="249555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r>
              <a:rPr lang="en-US" sz="800">
                <a:solidFill>
                  <a:srgbClr val="6B7280"/>
                </a:solidFill>
                <a:latin typeface="Aptos" charset="0"/>
                <a:cs typeface="Aptos" charset="0"/>
              </a:rPr>
              <a:t>AI-Powered Technical Proposal and Cost Estimation System</a:t>
            </a:r>
            <a:endParaRPr lang="en-US" sz="800">
              <a:solidFill>
                <a:srgbClr val="6B7280"/>
              </a:solidFill>
              <a:latin typeface="Aptos" charset="0"/>
              <a:cs typeface="Aptos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1366500" y="6477000"/>
            <a:ext cx="406400" cy="249555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r>
              <a:rPr lang="en-US" sz="800">
                <a:solidFill>
                  <a:srgbClr val="6B7280"/>
                </a:solidFill>
                <a:latin typeface="Aptos" charset="0"/>
                <a:cs typeface="Aptos" charset="0"/>
              </a:rPr>
              <a:t>2</a:t>
            </a:r>
            <a:endParaRPr lang="en-US" sz="800">
              <a:solidFill>
                <a:srgbClr val="6B7280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0A263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406400" y="127000"/>
            <a:ext cx="10033000" cy="480695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r>
              <a:rPr lang="en-US" sz="2300" b="1">
                <a:solidFill>
                  <a:srgbClr val="FFFFFF"/>
                </a:solidFill>
                <a:latin typeface="Aptos" charset="0"/>
                <a:cs typeface="Aptos" charset="0"/>
              </a:rPr>
              <a:t>Introduction</a:t>
            </a:r>
            <a:endParaRPr lang="en-US" sz="2300" b="1">
              <a:solidFill>
                <a:srgbClr val="FFFFFF"/>
              </a:solidFill>
              <a:latin typeface="Aptos" charset="0"/>
              <a:cs typeface="Aptos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041400" y="1333500"/>
            <a:ext cx="10160000" cy="1588770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pPr>
              <a:spcAft>
                <a:spcPts val="700"/>
              </a:spcAft>
            </a:pPr>
            <a:r>
              <a:rPr lang="en-US" sz="1900">
                <a:solidFill>
                  <a:srgbClr val="1F2937"/>
                </a:solidFill>
                <a:latin typeface="Aptos" charset="0"/>
                <a:cs typeface="Aptos" charset="0"/>
              </a:rPr>
              <a:t>- Technical proposals are critical in converting client ideas into approved software projects.
- Manual proposal preparation depends heavily on senior staff experience and takes significant time.
- Poor early estimates can lead to budget overruns, missed deadlines, and reduced client trust.
- The study focuses on using intelligent automation to improve this workflow.</a:t>
            </a:r>
            <a:endParaRPr lang="en-US" sz="1900">
              <a:solidFill>
                <a:srgbClr val="1F2937"/>
              </a:solidFill>
              <a:latin typeface="Aptos" charset="0"/>
              <a:cs typeface="Aptos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06400" y="6413500"/>
            <a:ext cx="11379200" cy="1905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406400" y="6477000"/>
            <a:ext cx="7874000" cy="249555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r>
              <a:rPr lang="en-US" sz="800">
                <a:solidFill>
                  <a:srgbClr val="6B7280"/>
                </a:solidFill>
                <a:latin typeface="Aptos" charset="0"/>
                <a:cs typeface="Aptos" charset="0"/>
              </a:rPr>
              <a:t>AI-Powered Technical Proposal and Cost Estimation System</a:t>
            </a:r>
            <a:endParaRPr lang="en-US" sz="800">
              <a:solidFill>
                <a:srgbClr val="6B7280"/>
              </a:solidFill>
              <a:latin typeface="Aptos" charset="0"/>
              <a:cs typeface="Aptos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1366500" y="6477000"/>
            <a:ext cx="406400" cy="249555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r>
              <a:rPr lang="en-US" sz="800">
                <a:solidFill>
                  <a:srgbClr val="6B7280"/>
                </a:solidFill>
                <a:latin typeface="Aptos" charset="0"/>
                <a:cs typeface="Aptos" charset="0"/>
              </a:rPr>
              <a:t>3</a:t>
            </a:r>
            <a:endParaRPr lang="en-US" sz="800">
              <a:solidFill>
                <a:srgbClr val="6B7280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0A263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406400" y="127000"/>
            <a:ext cx="10033000" cy="480695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r>
              <a:rPr lang="en-US" sz="2300" b="1">
                <a:solidFill>
                  <a:srgbClr val="FFFFFF"/>
                </a:solidFill>
                <a:latin typeface="Aptos" charset="0"/>
                <a:cs typeface="Aptos" charset="0"/>
              </a:rPr>
              <a:t>Background of the Study</a:t>
            </a:r>
            <a:endParaRPr lang="en-US" sz="2300" b="1">
              <a:solidFill>
                <a:srgbClr val="FFFFFF"/>
              </a:solidFill>
              <a:latin typeface="Aptos" charset="0"/>
              <a:cs typeface="Aptos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041400" y="1333500"/>
            <a:ext cx="10160000" cy="2173605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pPr>
              <a:spcAft>
                <a:spcPts val="700"/>
              </a:spcAft>
            </a:pPr>
            <a:r>
              <a:rPr lang="en-US" sz="1900">
                <a:solidFill>
                  <a:srgbClr val="1F2937"/>
                </a:solidFill>
                <a:latin typeface="Aptos" charset="0"/>
                <a:cs typeface="Aptos" charset="0"/>
              </a:rPr>
              <a:t>- Jimstech Innovations Nigeria Limited builds software, digital solutions, AI/data products, e-commerce systems, and education technology.
- As the company grows, client requests and project complexity also increase.
- Existing proposal and estimation processes rely on generic templates, informal consultation, and manual calculations.
- AI-assisted tools can analyze requirements and generate structured decision-support outputs.</a:t>
            </a:r>
            <a:endParaRPr lang="en-US" sz="1900">
              <a:solidFill>
                <a:srgbClr val="1F2937"/>
              </a:solidFill>
              <a:latin typeface="Aptos" charset="0"/>
              <a:cs typeface="Aptos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06400" y="6413500"/>
            <a:ext cx="11379200" cy="1905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406400" y="6477000"/>
            <a:ext cx="7874000" cy="249555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r>
              <a:rPr lang="en-US" sz="800">
                <a:solidFill>
                  <a:srgbClr val="6B7280"/>
                </a:solidFill>
                <a:latin typeface="Aptos" charset="0"/>
                <a:cs typeface="Aptos" charset="0"/>
              </a:rPr>
              <a:t>AI-Powered Technical Proposal and Cost Estimation System</a:t>
            </a:r>
            <a:endParaRPr lang="en-US" sz="800">
              <a:solidFill>
                <a:srgbClr val="6B7280"/>
              </a:solidFill>
              <a:latin typeface="Aptos" charset="0"/>
              <a:cs typeface="Aptos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1366500" y="6477000"/>
            <a:ext cx="406400" cy="249555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r>
              <a:rPr lang="en-US" sz="800">
                <a:solidFill>
                  <a:srgbClr val="6B7280"/>
                </a:solidFill>
                <a:latin typeface="Aptos" charset="0"/>
                <a:cs typeface="Aptos" charset="0"/>
              </a:rPr>
              <a:t>4</a:t>
            </a:r>
            <a:endParaRPr lang="en-US" sz="800">
              <a:solidFill>
                <a:srgbClr val="6B7280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0A263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406400" y="127000"/>
            <a:ext cx="10033000" cy="480695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r>
              <a:rPr lang="en-US" sz="2300" b="1">
                <a:solidFill>
                  <a:srgbClr val="FFFFFF"/>
                </a:solidFill>
                <a:latin typeface="Aptos" charset="0"/>
                <a:cs typeface="Aptos" charset="0"/>
              </a:rPr>
              <a:t>Statement of the Problem</a:t>
            </a:r>
            <a:endParaRPr lang="en-US" sz="2300" b="1">
              <a:solidFill>
                <a:srgbClr val="FFFFFF"/>
              </a:solidFill>
              <a:latin typeface="Aptos" charset="0"/>
              <a:cs typeface="Aptos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041400" y="1333500"/>
            <a:ext cx="10160000" cy="1588770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pPr>
              <a:spcAft>
                <a:spcPts val="700"/>
              </a:spcAft>
            </a:pPr>
            <a:r>
              <a:rPr lang="en-US" sz="1900">
                <a:solidFill>
                  <a:srgbClr val="1F2937"/>
                </a:solidFill>
                <a:latin typeface="Aptos" charset="0"/>
                <a:cs typeface="Aptos" charset="0"/>
              </a:rPr>
              <a:t>- No centralized digital process for capturing and analyzing client requirements.
- Proposal quality varies across staff, templates, and project types.
- Cost and timeline estimates are mostly experience-based and difficult to justify.
- Technology stack decisions are often ad hoc rather than requirement-driven.
- Historical project data is not fully reused for future planning.</a:t>
            </a:r>
            <a:endParaRPr lang="en-US" sz="1900">
              <a:solidFill>
                <a:srgbClr val="1F2937"/>
              </a:solidFill>
              <a:latin typeface="Aptos" charset="0"/>
              <a:cs typeface="Aptos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06400" y="6413500"/>
            <a:ext cx="11379200" cy="1905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406400" y="6477000"/>
            <a:ext cx="7874000" cy="249555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r>
              <a:rPr lang="en-US" sz="800">
                <a:solidFill>
                  <a:srgbClr val="6B7280"/>
                </a:solidFill>
                <a:latin typeface="Aptos" charset="0"/>
                <a:cs typeface="Aptos" charset="0"/>
              </a:rPr>
              <a:t>AI-Powered Technical Proposal and Cost Estimation System</a:t>
            </a:r>
            <a:endParaRPr lang="en-US" sz="800">
              <a:solidFill>
                <a:srgbClr val="6B7280"/>
              </a:solidFill>
              <a:latin typeface="Aptos" charset="0"/>
              <a:cs typeface="Aptos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1366500" y="6477000"/>
            <a:ext cx="406400" cy="249555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r>
              <a:rPr lang="en-US" sz="800">
                <a:solidFill>
                  <a:srgbClr val="6B7280"/>
                </a:solidFill>
                <a:latin typeface="Aptos" charset="0"/>
                <a:cs typeface="Aptos" charset="0"/>
              </a:rPr>
              <a:t>5</a:t>
            </a:r>
            <a:endParaRPr lang="en-US" sz="800">
              <a:solidFill>
                <a:srgbClr val="6B7280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0A263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406400" y="127000"/>
            <a:ext cx="10033000" cy="480695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r>
              <a:rPr lang="en-US" sz="2300" b="1">
                <a:solidFill>
                  <a:srgbClr val="FFFFFF"/>
                </a:solidFill>
                <a:latin typeface="Aptos" charset="0"/>
                <a:cs typeface="Aptos" charset="0"/>
              </a:rPr>
              <a:t>Motivation of the Study</a:t>
            </a:r>
            <a:endParaRPr lang="en-US" sz="2300" b="1">
              <a:solidFill>
                <a:srgbClr val="FFFFFF"/>
              </a:solidFill>
              <a:latin typeface="Aptos" charset="0"/>
              <a:cs typeface="Aptos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041400" y="1333500"/>
            <a:ext cx="10160000" cy="1588770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pPr>
              <a:spcAft>
                <a:spcPts val="700"/>
              </a:spcAft>
            </a:pPr>
            <a:r>
              <a:rPr lang="en-US" sz="1900">
                <a:solidFill>
                  <a:srgbClr val="1F2937"/>
                </a:solidFill>
                <a:latin typeface="Aptos" charset="0"/>
                <a:cs typeface="Aptos" charset="0"/>
              </a:rPr>
              <a:t>- Academic: contribute a practical AI application in software engineering project planning.
- Organizational: help Jimstech respond faster and more professionally to clients.
- Operational: reduce repeated manual work and improve consistency in documentation.
- Personal: apply software engineering, database, AI integration, and system design knowledge to a real problem.</a:t>
            </a:r>
            <a:endParaRPr lang="en-US" sz="1900">
              <a:solidFill>
                <a:srgbClr val="1F2937"/>
              </a:solidFill>
              <a:latin typeface="Aptos" charset="0"/>
              <a:cs typeface="Aptos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06400" y="6413500"/>
            <a:ext cx="11379200" cy="1905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406400" y="6477000"/>
            <a:ext cx="7874000" cy="249555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r>
              <a:rPr lang="en-US" sz="800">
                <a:solidFill>
                  <a:srgbClr val="6B7280"/>
                </a:solidFill>
                <a:latin typeface="Aptos" charset="0"/>
                <a:cs typeface="Aptos" charset="0"/>
              </a:rPr>
              <a:t>AI-Powered Technical Proposal and Cost Estimation System</a:t>
            </a:r>
            <a:endParaRPr lang="en-US" sz="800">
              <a:solidFill>
                <a:srgbClr val="6B7280"/>
              </a:solidFill>
              <a:latin typeface="Aptos" charset="0"/>
              <a:cs typeface="Aptos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1366500" y="6477000"/>
            <a:ext cx="406400" cy="249555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r>
              <a:rPr lang="en-US" sz="800">
                <a:solidFill>
                  <a:srgbClr val="6B7280"/>
                </a:solidFill>
                <a:latin typeface="Aptos" charset="0"/>
                <a:cs typeface="Aptos" charset="0"/>
              </a:rPr>
              <a:t>6</a:t>
            </a:r>
            <a:endParaRPr lang="en-US" sz="800">
              <a:solidFill>
                <a:srgbClr val="6B7280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0A263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406400" y="127000"/>
            <a:ext cx="10033000" cy="480695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r>
              <a:rPr lang="en-US" sz="2300" b="1">
                <a:solidFill>
                  <a:srgbClr val="FFFFFF"/>
                </a:solidFill>
                <a:latin typeface="Aptos" charset="0"/>
                <a:cs typeface="Aptos" charset="0"/>
              </a:rPr>
              <a:t>Objectives of the Study</a:t>
            </a:r>
            <a:endParaRPr lang="en-US" sz="2300" b="1">
              <a:solidFill>
                <a:srgbClr val="FFFFFF"/>
              </a:solidFill>
              <a:latin typeface="Aptos" charset="0"/>
              <a:cs typeface="Aptos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041400" y="1333500"/>
            <a:ext cx="10160000" cy="1880870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pPr>
              <a:spcAft>
                <a:spcPts val="700"/>
              </a:spcAft>
            </a:pPr>
            <a:r>
              <a:rPr lang="en-US" sz="1900">
                <a:solidFill>
                  <a:srgbClr val="1F2937"/>
                </a:solidFill>
                <a:latin typeface="Aptos" charset="0"/>
                <a:cs typeface="Aptos" charset="0"/>
              </a:rPr>
              <a:t>- General objective: design and implement an AI-powered proposal and cost estimation system for software projects.
- Analyze the existing manual proposal and estimation process.
- Design structured requirement analysis and proposal generation modules.
- Implement cost, timeline, and technology recommendation features.
- Provide role-based access, auditability, and a project repository for learning from past work.</a:t>
            </a:r>
            <a:endParaRPr lang="en-US" sz="1900">
              <a:solidFill>
                <a:srgbClr val="1F2937"/>
              </a:solidFill>
              <a:latin typeface="Aptos" charset="0"/>
              <a:cs typeface="Aptos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06400" y="6413500"/>
            <a:ext cx="11379200" cy="1905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406400" y="6477000"/>
            <a:ext cx="7874000" cy="249555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r>
              <a:rPr lang="en-US" sz="800">
                <a:solidFill>
                  <a:srgbClr val="6B7280"/>
                </a:solidFill>
                <a:latin typeface="Aptos" charset="0"/>
                <a:cs typeface="Aptos" charset="0"/>
              </a:rPr>
              <a:t>AI-Powered Technical Proposal and Cost Estimation System</a:t>
            </a:r>
            <a:endParaRPr lang="en-US" sz="800">
              <a:solidFill>
                <a:srgbClr val="6B7280"/>
              </a:solidFill>
              <a:latin typeface="Aptos" charset="0"/>
              <a:cs typeface="Aptos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1366500" y="6477000"/>
            <a:ext cx="406400" cy="249555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r>
              <a:rPr lang="en-US" sz="800">
                <a:solidFill>
                  <a:srgbClr val="6B7280"/>
                </a:solidFill>
                <a:latin typeface="Aptos" charset="0"/>
                <a:cs typeface="Aptos" charset="0"/>
              </a:rPr>
              <a:t>7</a:t>
            </a:r>
            <a:endParaRPr lang="en-US" sz="800">
              <a:solidFill>
                <a:srgbClr val="6B7280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0A263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406400" y="127000"/>
            <a:ext cx="10033000" cy="480695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r>
              <a:rPr lang="en-US" sz="2300" b="1">
                <a:solidFill>
                  <a:srgbClr val="FFFFFF"/>
                </a:solidFill>
                <a:latin typeface="Aptos" charset="0"/>
                <a:cs typeface="Aptos" charset="0"/>
              </a:rPr>
              <a:t>Scope of the Study</a:t>
            </a:r>
            <a:endParaRPr lang="en-US" sz="2300" b="1">
              <a:solidFill>
                <a:srgbClr val="FFFFFF"/>
              </a:solidFill>
              <a:latin typeface="Aptos" charset="0"/>
              <a:cs typeface="Aptos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041400" y="1333500"/>
            <a:ext cx="10160000" cy="2173605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pPr>
              <a:spcAft>
                <a:spcPts val="700"/>
              </a:spcAft>
            </a:pPr>
            <a:r>
              <a:rPr lang="en-US" sz="1900">
                <a:solidFill>
                  <a:srgbClr val="1F2937"/>
                </a:solidFill>
                <a:latin typeface="Aptos" charset="0"/>
                <a:cs typeface="Aptos" charset="0"/>
              </a:rPr>
              <a:t>- Requirement analysis and categorization of client project needs.
- AI-assisted technical proposal generation with editable sections.
- Cost estimation in NGN with development, infrastructure, third-party, and contingency values.
- Timeline prediction with phases, milestones, risk level, and confidence score.
- Technology recommendation, project repository, reports, templates, clients, security, and role management.</a:t>
            </a:r>
            <a:endParaRPr lang="en-US" sz="1900">
              <a:solidFill>
                <a:srgbClr val="1F2937"/>
              </a:solidFill>
              <a:latin typeface="Aptos" charset="0"/>
              <a:cs typeface="Aptos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06400" y="6413500"/>
            <a:ext cx="11379200" cy="1905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406400" y="6477000"/>
            <a:ext cx="7874000" cy="249555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r>
              <a:rPr lang="en-US" sz="800">
                <a:solidFill>
                  <a:srgbClr val="6B7280"/>
                </a:solidFill>
                <a:latin typeface="Aptos" charset="0"/>
                <a:cs typeface="Aptos" charset="0"/>
              </a:rPr>
              <a:t>AI-Powered Technical Proposal and Cost Estimation System</a:t>
            </a:r>
            <a:endParaRPr lang="en-US" sz="800">
              <a:solidFill>
                <a:srgbClr val="6B7280"/>
              </a:solidFill>
              <a:latin typeface="Aptos" charset="0"/>
              <a:cs typeface="Aptos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1366500" y="6477000"/>
            <a:ext cx="406400" cy="249555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r>
              <a:rPr lang="en-US" sz="800">
                <a:solidFill>
                  <a:srgbClr val="6B7280"/>
                </a:solidFill>
                <a:latin typeface="Aptos" charset="0"/>
                <a:cs typeface="Aptos" charset="0"/>
              </a:rPr>
              <a:t>8</a:t>
            </a:r>
            <a:endParaRPr lang="en-US" sz="800">
              <a:solidFill>
                <a:srgbClr val="6B7280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0A263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406400" y="127000"/>
            <a:ext cx="10033000" cy="480695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r>
              <a:rPr lang="en-US" sz="2300" b="1">
                <a:solidFill>
                  <a:srgbClr val="FFFFFF"/>
                </a:solidFill>
                <a:latin typeface="Aptos" charset="0"/>
                <a:cs typeface="Aptos" charset="0"/>
              </a:rPr>
              <a:t>Methodology and Interviews</a:t>
            </a:r>
            <a:endParaRPr lang="en-US" sz="2300" b="1">
              <a:solidFill>
                <a:srgbClr val="FFFFFF"/>
              </a:solidFill>
              <a:latin typeface="Aptos" charset="0"/>
              <a:cs typeface="Aptos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041400" y="1333500"/>
            <a:ext cx="10160000" cy="1880870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pPr>
              <a:spcAft>
                <a:spcPts val="700"/>
              </a:spcAft>
            </a:pPr>
            <a:r>
              <a:rPr lang="en-US" sz="1900">
                <a:solidFill>
                  <a:srgbClr val="1F2937"/>
                </a:solidFill>
                <a:latin typeface="Aptos" charset="0"/>
                <a:cs typeface="Aptos" charset="0"/>
              </a:rPr>
              <a:t>- Research methods: observation, documentation review, and stakeholder interviews.
- Interviewed management, project managers, and software engineers at Jimstech.
- Key finding: proposals are prepared manually using experience, informal consultation, and generic templates.
- Development method: Incremental Software Development Model for building and improving modules step by step.</a:t>
            </a:r>
            <a:endParaRPr lang="en-US" sz="1900">
              <a:solidFill>
                <a:srgbClr val="1F2937"/>
              </a:solidFill>
              <a:latin typeface="Aptos" charset="0"/>
              <a:cs typeface="Aptos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06400" y="6413500"/>
            <a:ext cx="11379200" cy="1905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406400" y="6477000"/>
            <a:ext cx="7874000" cy="249555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r>
              <a:rPr lang="en-US" sz="800">
                <a:solidFill>
                  <a:srgbClr val="6B7280"/>
                </a:solidFill>
                <a:latin typeface="Aptos" charset="0"/>
                <a:cs typeface="Aptos" charset="0"/>
              </a:rPr>
              <a:t>AI-Powered Technical Proposal and Cost Estimation System</a:t>
            </a:r>
            <a:endParaRPr lang="en-US" sz="800">
              <a:solidFill>
                <a:srgbClr val="6B7280"/>
              </a:solidFill>
              <a:latin typeface="Aptos" charset="0"/>
              <a:cs typeface="Aptos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1366500" y="6477000"/>
            <a:ext cx="406400" cy="249555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r>
              <a:rPr lang="en-US" sz="800">
                <a:solidFill>
                  <a:srgbClr val="6B7280"/>
                </a:solidFill>
                <a:latin typeface="Aptos" charset="0"/>
                <a:cs typeface="Aptos" charset="0"/>
              </a:rPr>
              <a:t>9</a:t>
            </a:r>
            <a:endParaRPr lang="en-US" sz="800">
              <a:solidFill>
                <a:srgbClr val="6B7280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0A263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406400" y="127000"/>
            <a:ext cx="10033000" cy="480695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r>
              <a:rPr lang="en-US" sz="2300" b="1">
                <a:solidFill>
                  <a:srgbClr val="FFFFFF"/>
                </a:solidFill>
                <a:latin typeface="Aptos" charset="0"/>
                <a:cs typeface="Aptos" charset="0"/>
              </a:rPr>
              <a:t>Current System Analysis</a:t>
            </a:r>
            <a:endParaRPr lang="en-US" sz="2300" b="1">
              <a:solidFill>
                <a:srgbClr val="FFFFFF"/>
              </a:solidFill>
              <a:latin typeface="Aptos" charset="0"/>
              <a:cs typeface="Aptos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06400" y="1168400"/>
            <a:ext cx="5334000" cy="2435225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pPr>
              <a:spcAft>
                <a:spcPts val="700"/>
              </a:spcAft>
            </a:pPr>
            <a:r>
              <a:rPr lang="en-US" sz="1500">
                <a:solidFill>
                  <a:srgbClr val="1F2937"/>
                </a:solidFill>
                <a:latin typeface="Aptos" charset="0"/>
                <a:cs typeface="Aptos" charset="0"/>
              </a:rPr>
              <a:t>- Client briefs arrive through emails, chats, calls, and informal documents.
- Requirements are scattered and may be incomplete or ambiguous.
- Senior staff manually prepare proposals and estimate cost/timeline.
- There is limited reuse of past project records and no automated review workflow.
- Main effect: slow response time, inconsistent output, and reduced scalability.</a:t>
            </a:r>
            <a:endParaRPr lang="en-US" sz="1500">
              <a:solidFill>
                <a:srgbClr val="1F2937"/>
              </a:solidFill>
              <a:latin typeface="Aptos" charset="0"/>
              <a:cs typeface="Aptos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19800" y="1168400"/>
            <a:ext cx="5461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6" name="Picture 5" descr="figure_01_model_of_the_current_proposal_proces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8400" y="1908810"/>
            <a:ext cx="5003800" cy="309054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06400" y="6413500"/>
            <a:ext cx="11379200" cy="1905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406400" y="6477000"/>
            <a:ext cx="7874000" cy="249555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r>
              <a:rPr lang="en-US" sz="800">
                <a:solidFill>
                  <a:srgbClr val="6B7280"/>
                </a:solidFill>
                <a:latin typeface="Aptos" charset="0"/>
                <a:cs typeface="Aptos" charset="0"/>
              </a:rPr>
              <a:t>AI-Powered Technical Proposal and Cost Estimation System</a:t>
            </a:r>
            <a:endParaRPr lang="en-US" sz="800">
              <a:solidFill>
                <a:srgbClr val="6B7280"/>
              </a:solidFill>
              <a:latin typeface="Aptos" charset="0"/>
              <a:cs typeface="Aptos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11366500" y="6477000"/>
            <a:ext cx="406400" cy="249555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r>
              <a:rPr lang="en-US" sz="800">
                <a:solidFill>
                  <a:srgbClr val="6B7280"/>
                </a:solidFill>
                <a:latin typeface="Aptos" charset="0"/>
                <a:cs typeface="Aptos" charset="0"/>
              </a:rPr>
              <a:t>10</a:t>
            </a:r>
            <a:endParaRPr lang="en-US" sz="800">
              <a:solidFill>
                <a:srgbClr val="6B7280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0A263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406400" y="127000"/>
            <a:ext cx="10033000" cy="480695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r>
              <a:rPr lang="en-US" sz="2300" b="1">
                <a:solidFill>
                  <a:srgbClr val="FFFFFF"/>
                </a:solidFill>
                <a:latin typeface="Aptos" charset="0"/>
                <a:cs typeface="Aptos" charset="0"/>
              </a:rPr>
              <a:t>Proposed Solution</a:t>
            </a:r>
            <a:endParaRPr lang="en-US" sz="2300" b="1">
              <a:solidFill>
                <a:srgbClr val="FFFFFF"/>
              </a:solidFill>
              <a:latin typeface="Aptos" charset="0"/>
              <a:cs typeface="Aptos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041400" y="1333500"/>
            <a:ext cx="10160000" cy="2173605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pPr>
              <a:spcAft>
                <a:spcPts val="700"/>
              </a:spcAft>
            </a:pPr>
            <a:r>
              <a:rPr lang="en-US" sz="1900">
                <a:solidFill>
                  <a:srgbClr val="1F2937"/>
                </a:solidFill>
                <a:latin typeface="Aptos" charset="0"/>
                <a:cs typeface="Aptos" charset="0"/>
              </a:rPr>
              <a:t>- A web-based AI-assisted system for end-to-end proposal and estimation workflow.
- Structured requirement capture feeds proposal, cost, timeline, and technology modules.
- LLM API generates decision-support content; local fallbacks keep the workflow usable when API is unavailable.
- Supabase stores users, clients, projects, proposals, reviews, estimates, timelines, recommendations, reports, and audit logs.
- Role-based access protects sensitive proposal and financial data.</a:t>
            </a:r>
            <a:endParaRPr lang="en-US" sz="1900">
              <a:solidFill>
                <a:srgbClr val="1F2937"/>
              </a:solidFill>
              <a:latin typeface="Aptos" charset="0"/>
              <a:cs typeface="Aptos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06400" y="6413500"/>
            <a:ext cx="11379200" cy="1905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406400" y="6477000"/>
            <a:ext cx="7874000" cy="249555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r>
              <a:rPr lang="en-US" sz="800">
                <a:solidFill>
                  <a:srgbClr val="6B7280"/>
                </a:solidFill>
                <a:latin typeface="Aptos" charset="0"/>
                <a:cs typeface="Aptos" charset="0"/>
              </a:rPr>
              <a:t>AI-Powered Technical Proposal and Cost Estimation System</a:t>
            </a:r>
            <a:endParaRPr lang="en-US" sz="800">
              <a:solidFill>
                <a:srgbClr val="6B7280"/>
              </a:solidFill>
              <a:latin typeface="Aptos" charset="0"/>
              <a:cs typeface="Aptos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1366500" y="6477000"/>
            <a:ext cx="406400" cy="249555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r>
              <a:rPr lang="en-US" sz="800">
                <a:solidFill>
                  <a:srgbClr val="6B7280"/>
                </a:solidFill>
                <a:latin typeface="Aptos" charset="0"/>
                <a:cs typeface="Aptos" charset="0"/>
              </a:rPr>
              <a:t>11</a:t>
            </a:r>
            <a:endParaRPr lang="en-US" sz="800">
              <a:solidFill>
                <a:srgbClr val="6B7280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0A263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406400" y="127000"/>
            <a:ext cx="10033000" cy="480695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r>
              <a:rPr lang="en-US" sz="2300" b="1">
                <a:solidFill>
                  <a:srgbClr val="FFFFFF"/>
                </a:solidFill>
                <a:latin typeface="Aptos" charset="0"/>
                <a:cs typeface="Aptos" charset="0"/>
              </a:rPr>
              <a:t>Use Cases</a:t>
            </a:r>
            <a:endParaRPr lang="en-US" sz="2300" b="1">
              <a:solidFill>
                <a:srgbClr val="FFFFFF"/>
              </a:solidFill>
              <a:latin typeface="Aptos" charset="0"/>
              <a:cs typeface="Aptos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06400" y="1168400"/>
            <a:ext cx="5334000" cy="1973580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pPr>
              <a:spcAft>
                <a:spcPts val="700"/>
              </a:spcAft>
            </a:pPr>
            <a:r>
              <a:rPr lang="en-US" sz="1500">
                <a:solidFill>
                  <a:srgbClr val="1F2937"/>
                </a:solidFill>
                <a:latin typeface="Aptos" charset="0"/>
                <a:cs typeface="Aptos" charset="0"/>
              </a:rPr>
              <a:t>- Software Engineer: capture requirements, generate planning outputs, and create proposal drafts.
- Project Manager: review, approve, manage templates, and oversee project repository records.
- Sales: manage clients, requirements, proposals, and reports for client engagement.
- Admin: manage users, integrations, security audit, and system settings.</a:t>
            </a:r>
            <a:endParaRPr lang="en-US" sz="1500">
              <a:solidFill>
                <a:srgbClr val="1F2937"/>
              </a:solidFill>
              <a:latin typeface="Aptos" charset="0"/>
              <a:cs typeface="Aptos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19800" y="1168400"/>
            <a:ext cx="5461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6" name="Picture 5" descr="figure_07_use_case_diagram_correc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0565" y="1422400"/>
            <a:ext cx="3378200" cy="4064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06400" y="6413500"/>
            <a:ext cx="11379200" cy="1905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406400" y="6477000"/>
            <a:ext cx="7874000" cy="249555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r>
              <a:rPr lang="en-US" sz="800">
                <a:solidFill>
                  <a:srgbClr val="6B7280"/>
                </a:solidFill>
                <a:latin typeface="Aptos" charset="0"/>
                <a:cs typeface="Aptos" charset="0"/>
              </a:rPr>
              <a:t>AI-Powered Technical Proposal and Cost Estimation System</a:t>
            </a:r>
            <a:endParaRPr lang="en-US" sz="800">
              <a:solidFill>
                <a:srgbClr val="6B7280"/>
              </a:solidFill>
              <a:latin typeface="Aptos" charset="0"/>
              <a:cs typeface="Aptos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11366500" y="6477000"/>
            <a:ext cx="406400" cy="249555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r>
              <a:rPr lang="en-US" sz="800">
                <a:solidFill>
                  <a:srgbClr val="6B7280"/>
                </a:solidFill>
                <a:latin typeface="Aptos" charset="0"/>
                <a:cs typeface="Aptos" charset="0"/>
              </a:rPr>
              <a:t>12</a:t>
            </a:r>
            <a:endParaRPr lang="en-US" sz="800">
              <a:solidFill>
                <a:srgbClr val="6B7280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0A263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406400" y="127000"/>
            <a:ext cx="10033000" cy="480695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r>
              <a:rPr lang="en-US" sz="2300" b="1">
                <a:solidFill>
                  <a:srgbClr val="FFFFFF"/>
                </a:solidFill>
                <a:latin typeface="Aptos" charset="0"/>
                <a:cs typeface="Aptos" charset="0"/>
              </a:rPr>
              <a:t>System Design and Architecture</a:t>
            </a:r>
            <a:endParaRPr lang="en-US" sz="2300" b="1">
              <a:solidFill>
                <a:srgbClr val="FFFFFF"/>
              </a:solidFill>
              <a:latin typeface="Aptos" charset="0"/>
              <a:cs typeface="Aptos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06400" y="1168400"/>
            <a:ext cx="5334000" cy="1973580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pPr>
              <a:spcAft>
                <a:spcPts val="700"/>
              </a:spcAft>
            </a:pPr>
            <a:r>
              <a:rPr lang="en-US" sz="1500">
                <a:solidFill>
                  <a:srgbClr val="1F2937"/>
                </a:solidFill>
                <a:latin typeface="Aptos" charset="0"/>
                <a:cs typeface="Aptos" charset="0"/>
              </a:rPr>
              <a:t>- Frontend: React 18, TypeScript, Vite, Tailwind CSS, Radix UI, Lucide icons, and Recharts.
- Backend/data: Supabase PostgreSQL, authentication, Row-Level Security, triggers, and audit logs.
- AI layer: NVIDIA NIM LLM API for analysis and generation, with deterministic local fallbacks.
- Architecture supports maintainability, security, scalability, and modular development.</a:t>
            </a:r>
            <a:endParaRPr lang="en-US" sz="1500">
              <a:solidFill>
                <a:srgbClr val="1F2937"/>
              </a:solidFill>
              <a:latin typeface="Aptos" charset="0"/>
              <a:cs typeface="Aptos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19800" y="1168400"/>
            <a:ext cx="5461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6" name="Picture 5" descr="figure_22_database_diagram_correc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4600" y="1422400"/>
            <a:ext cx="4850765" cy="4064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06400" y="6413500"/>
            <a:ext cx="11379200" cy="1905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406400" y="6477000"/>
            <a:ext cx="7874000" cy="249555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r>
              <a:rPr lang="en-US" sz="800">
                <a:solidFill>
                  <a:srgbClr val="6B7280"/>
                </a:solidFill>
                <a:latin typeface="Aptos" charset="0"/>
                <a:cs typeface="Aptos" charset="0"/>
              </a:rPr>
              <a:t>AI-Powered Technical Proposal and Cost Estimation System</a:t>
            </a:r>
            <a:endParaRPr lang="en-US" sz="800">
              <a:solidFill>
                <a:srgbClr val="6B7280"/>
              </a:solidFill>
              <a:latin typeface="Aptos" charset="0"/>
              <a:cs typeface="Aptos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11366500" y="6477000"/>
            <a:ext cx="406400" cy="249555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r>
              <a:rPr lang="en-US" sz="800">
                <a:solidFill>
                  <a:srgbClr val="6B7280"/>
                </a:solidFill>
                <a:latin typeface="Aptos" charset="0"/>
                <a:cs typeface="Aptos" charset="0"/>
              </a:rPr>
              <a:t>13</a:t>
            </a:r>
            <a:endParaRPr lang="en-US" sz="800">
              <a:solidFill>
                <a:srgbClr val="6B7280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0A263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406400" y="127000"/>
            <a:ext cx="10033000" cy="480695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r>
              <a:rPr lang="en-US" sz="2300" b="1">
                <a:solidFill>
                  <a:srgbClr val="FFFFFF"/>
                </a:solidFill>
                <a:latin typeface="Aptos" charset="0"/>
                <a:cs typeface="Aptos" charset="0"/>
              </a:rPr>
              <a:t>Implementation Highlights</a:t>
            </a:r>
            <a:endParaRPr lang="en-US" sz="2300" b="1">
              <a:solidFill>
                <a:srgbClr val="FFFFFF"/>
              </a:solidFill>
              <a:latin typeface="Aptos" charset="0"/>
              <a:cs typeface="Aptos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06400" y="1168400"/>
            <a:ext cx="5334000" cy="2435225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pPr>
              <a:spcAft>
                <a:spcPts val="700"/>
              </a:spcAft>
            </a:pPr>
            <a:r>
              <a:rPr lang="en-US" sz="1500">
                <a:solidFill>
                  <a:srgbClr val="1F2937"/>
                </a:solidFill>
                <a:latin typeface="Aptos" charset="0"/>
                <a:cs typeface="Aptos" charset="0"/>
              </a:rPr>
              <a:t>- Requirement analysis converts client needs into structured project records.
- Proposal module generates editable sections and supports review/approval.
- Cost, timeline, and technology modules provide real planning values for proposals and reviews.
- Exports support Markdown, PDF print flow, and DOC format for reports and proposals.
- Client email action opens Gmail compose from jimstech4u@gmail.com without API integration.</a:t>
            </a:r>
            <a:endParaRPr lang="en-US" sz="1500">
              <a:solidFill>
                <a:srgbClr val="1F2937"/>
              </a:solidFill>
              <a:latin typeface="Aptos" charset="0"/>
              <a:cs typeface="Aptos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19800" y="1168400"/>
            <a:ext cx="5461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6" name="Picture 5" descr="figure_28_proposal_generation_modul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8400" y="1675130"/>
            <a:ext cx="5003800" cy="355790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06400" y="6413500"/>
            <a:ext cx="11379200" cy="1905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406400" y="6477000"/>
            <a:ext cx="7874000" cy="249555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r>
              <a:rPr lang="en-US" sz="800">
                <a:solidFill>
                  <a:srgbClr val="6B7280"/>
                </a:solidFill>
                <a:latin typeface="Aptos" charset="0"/>
                <a:cs typeface="Aptos" charset="0"/>
              </a:rPr>
              <a:t>AI-Powered Technical Proposal and Cost Estimation System</a:t>
            </a:r>
            <a:endParaRPr lang="en-US" sz="800">
              <a:solidFill>
                <a:srgbClr val="6B7280"/>
              </a:solidFill>
              <a:latin typeface="Aptos" charset="0"/>
              <a:cs typeface="Aptos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11366500" y="6477000"/>
            <a:ext cx="406400" cy="249555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r>
              <a:rPr lang="en-US" sz="800">
                <a:solidFill>
                  <a:srgbClr val="6B7280"/>
                </a:solidFill>
                <a:latin typeface="Aptos" charset="0"/>
                <a:cs typeface="Aptos" charset="0"/>
              </a:rPr>
              <a:t>14</a:t>
            </a:r>
            <a:endParaRPr lang="en-US" sz="800">
              <a:solidFill>
                <a:srgbClr val="6B7280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0A263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406400" y="127000"/>
            <a:ext cx="10033000" cy="480695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r>
              <a:rPr lang="en-US" sz="2300" b="1">
                <a:solidFill>
                  <a:srgbClr val="FFFFFF"/>
                </a:solidFill>
                <a:latin typeface="Aptos" charset="0"/>
                <a:cs typeface="Aptos" charset="0"/>
              </a:rPr>
              <a:t>Expected Results</a:t>
            </a:r>
            <a:endParaRPr lang="en-US" sz="2300" b="1">
              <a:solidFill>
                <a:srgbClr val="FFFFFF"/>
              </a:solidFill>
              <a:latin typeface="Aptos" charset="0"/>
              <a:cs typeface="Aptos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06400" y="1168400"/>
            <a:ext cx="5334000" cy="1973580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pPr>
              <a:spcAft>
                <a:spcPts val="700"/>
              </a:spcAft>
            </a:pPr>
            <a:r>
              <a:rPr lang="en-US" sz="1500">
                <a:solidFill>
                  <a:srgbClr val="1F2937"/>
                </a:solidFill>
                <a:latin typeface="Aptos" charset="0"/>
                <a:cs typeface="Aptos" charset="0"/>
              </a:rPr>
              <a:t>- Reduced time required to prepare technical proposals.
- More consistent proposal structure and documentation quality.
- Improved cost and timeline projections using requirement and historical project context.
- Better technology decisions aligned with project needs.
- Faster client onboarding and stronger organizational learning through project repository records.</a:t>
            </a:r>
            <a:endParaRPr lang="en-US" sz="1500">
              <a:solidFill>
                <a:srgbClr val="1F2937"/>
              </a:solidFill>
              <a:latin typeface="Aptos" charset="0"/>
              <a:cs typeface="Aptos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19800" y="1168400"/>
            <a:ext cx="5461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6" name="Picture 5" descr="figure_29_cost_estimation_report_p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8400" y="1675130"/>
            <a:ext cx="5003800" cy="355790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06400" y="6413500"/>
            <a:ext cx="11379200" cy="1905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406400" y="6477000"/>
            <a:ext cx="7874000" cy="249555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r>
              <a:rPr lang="en-US" sz="800">
                <a:solidFill>
                  <a:srgbClr val="6B7280"/>
                </a:solidFill>
                <a:latin typeface="Aptos" charset="0"/>
                <a:cs typeface="Aptos" charset="0"/>
              </a:rPr>
              <a:t>AI-Powered Technical Proposal and Cost Estimation System</a:t>
            </a:r>
            <a:endParaRPr lang="en-US" sz="800">
              <a:solidFill>
                <a:srgbClr val="6B7280"/>
              </a:solidFill>
              <a:latin typeface="Aptos" charset="0"/>
              <a:cs typeface="Aptos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11366500" y="6477000"/>
            <a:ext cx="406400" cy="249555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r>
              <a:rPr lang="en-US" sz="800">
                <a:solidFill>
                  <a:srgbClr val="6B7280"/>
                </a:solidFill>
                <a:latin typeface="Aptos" charset="0"/>
                <a:cs typeface="Aptos" charset="0"/>
              </a:rPr>
              <a:t>15</a:t>
            </a:r>
            <a:endParaRPr lang="en-US" sz="800">
              <a:solidFill>
                <a:srgbClr val="6B7280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0A263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406400" y="127000"/>
            <a:ext cx="10033000" cy="480695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r>
              <a:rPr lang="en-US" sz="2300" b="1">
                <a:solidFill>
                  <a:srgbClr val="FFFFFF"/>
                </a:solidFill>
                <a:latin typeface="Aptos" charset="0"/>
                <a:cs typeface="Aptos" charset="0"/>
              </a:rPr>
              <a:t>Recommendations and Conclusion</a:t>
            </a:r>
            <a:endParaRPr lang="en-US" sz="2300" b="1">
              <a:solidFill>
                <a:srgbClr val="FFFFFF"/>
              </a:solidFill>
              <a:latin typeface="Aptos" charset="0"/>
              <a:cs typeface="Aptos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041400" y="1333500"/>
            <a:ext cx="10160000" cy="1880870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pPr>
              <a:spcAft>
                <a:spcPts val="700"/>
              </a:spcAft>
            </a:pPr>
            <a:r>
              <a:rPr lang="en-US" sz="1900">
                <a:solidFill>
                  <a:srgbClr val="1F2937"/>
                </a:solidFill>
                <a:latin typeface="Aptos" charset="0"/>
                <a:cs typeface="Aptos" charset="0"/>
              </a:rPr>
              <a:t>- Deploy the system for real proposal workflows at Jimstech Innovations Nigeria Limited.
- Train engineers, project managers, sales staff, and administrators before full adoption.
- Keep historical project data accurate so future estimates become more reliable.
- Extend future versions with CRM, email/calendar automation, and richer analytics.
- Conclusion: the system provides a practical AI-assisted platform for improving proposal quality, estimation accuracy, and client response speed.</a:t>
            </a:r>
            <a:endParaRPr lang="en-US" sz="1900">
              <a:solidFill>
                <a:srgbClr val="1F2937"/>
              </a:solidFill>
              <a:latin typeface="Aptos" charset="0"/>
              <a:cs typeface="Aptos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06400" y="6413500"/>
            <a:ext cx="11379200" cy="1905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406400" y="6477000"/>
            <a:ext cx="7874000" cy="249555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r>
              <a:rPr lang="en-US" sz="800">
                <a:solidFill>
                  <a:srgbClr val="6B7280"/>
                </a:solidFill>
                <a:latin typeface="Aptos" charset="0"/>
                <a:cs typeface="Aptos" charset="0"/>
              </a:rPr>
              <a:t>AI-Powered Technical Proposal and Cost Estimation System</a:t>
            </a:r>
            <a:endParaRPr lang="en-US" sz="800">
              <a:solidFill>
                <a:srgbClr val="6B7280"/>
              </a:solidFill>
              <a:latin typeface="Aptos" charset="0"/>
              <a:cs typeface="Aptos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1366500" y="6477000"/>
            <a:ext cx="406400" cy="249555"/>
          </a:xfrm>
          <a:prstGeom prst="rect">
            <a:avLst/>
          </a:prstGeom>
          <a:noFill/>
        </p:spPr>
        <p:txBody>
          <a:bodyPr wrap="square" lIns="101600" tIns="63500" rIns="101600" bIns="63500" rtlCol="0" anchor="t">
            <a:spAutoFit/>
          </a:bodyPr>
          <a:p>
            <a:r>
              <a:rPr lang="en-US" sz="800">
                <a:solidFill>
                  <a:srgbClr val="6B7280"/>
                </a:solidFill>
                <a:latin typeface="Aptos" charset="0"/>
                <a:cs typeface="Aptos" charset="0"/>
              </a:rPr>
              <a:t>16</a:t>
            </a:r>
            <a:endParaRPr lang="en-US" sz="800">
              <a:solidFill>
                <a:srgbClr val="6B7280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7587</Words>
  <Application>WPS Presentation</Application>
  <PresentationFormat>Widescreen</PresentationFormat>
  <Paragraphs>128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Arial</vt:lpstr>
      <vt:lpstr>SimSun</vt:lpstr>
      <vt:lpstr>Wingdings</vt:lpstr>
      <vt:lpstr>Wingdings</vt:lpstr>
      <vt:lpstr>Arial Unicode MS</vt:lpstr>
      <vt:lpstr>Microsoft YaHei</vt:lpstr>
      <vt:lpstr>Calibri</vt:lpstr>
      <vt:lpstr>Aptos</vt:lpstr>
      <vt:lpstr>Segoe UI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creator>ajibe</dc:creator>
  <cp:lastModifiedBy>Irekanmi Ajibewa</cp:lastModifiedBy>
  <cp:revision>1</cp:revision>
  <dcterms:created xsi:type="dcterms:W3CDTF">2026-06-24T09:47:31Z</dcterms:created>
  <dcterms:modified xsi:type="dcterms:W3CDTF">2026-06-24T09:47:31Z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2F9B7E7D4A884A13AFCB36FD59F7244E_11</vt:lpwstr>
  </property>
</Properties>
</file>